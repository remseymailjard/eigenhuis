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147482741" r:id="rId2"/>
    <p:sldId id="256" r:id="rId3"/>
    <p:sldId id="257" r:id="rId4"/>
    <p:sldId id="2147482743" r:id="rId5"/>
    <p:sldId id="2147482742" r:id="rId6"/>
    <p:sldId id="2147482744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57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219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46B49-0758-912F-EC8D-EE21FAA39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72583-3574-AF88-0673-C2B4435BD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DBECC-A86A-5CB6-C3FE-43A9EE9FC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895BE-25DF-BBF6-6A37-DED6C4FFEE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70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930D9-305F-DD13-2217-D6068FE5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E6365-7C13-BB86-CC7E-9690ED42B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4EA1C-10BE-B577-462D-822BBC71C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15995-9008-6DF9-4A34-51C59170DA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86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97" y="342900"/>
            <a:ext cx="8263890" cy="7374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961" y="4267200"/>
            <a:ext cx="2606278" cy="32275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3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436960" y="1519238"/>
            <a:ext cx="2606040" cy="260604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68981" y="4267200"/>
            <a:ext cx="2606278" cy="32275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3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268980" y="1519238"/>
            <a:ext cx="2606040" cy="260604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00764" y="4267200"/>
            <a:ext cx="2606278" cy="32275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3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99047" y="1519238"/>
            <a:ext cx="2606040" cy="260604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</a:extLst>
          </p:cNvPr>
          <p:cNvSpPr txBox="1"/>
          <p:nvPr userDrawn="1"/>
        </p:nvSpPr>
        <p:spPr>
          <a:xfrm>
            <a:off x="9266791" y="-152958"/>
            <a:ext cx="4023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75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339122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1BFCF-F87E-3111-7489-B588D45C5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A76A14-8027-3431-924C-1BA6CD1D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58FBDF1-9FF7-0AD9-5F0A-20405F78F1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FA3D65C0-3C2B-9EE3-7794-9EA1A5F5AD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5FC4638-E6CE-31F7-C577-47598D24C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36075218-AAFC-8B01-D379-0B0DFC0A772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52A08EE-9D6F-020A-F3BF-152FDB257F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CF5DD6F5-ADA9-527F-F937-E80BDC33F12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045F27A6-7EBB-676D-6D92-BBFB5DBD18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24574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nl-NL" sz="135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2BAB251-B574-764E-EC98-C661C35269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62"/>
          <a:stretch>
            <a:fillRect/>
          </a:stretch>
        </p:blipFill>
        <p:spPr>
          <a:xfrm>
            <a:off x="1117" y="553548"/>
            <a:ext cx="9141767" cy="4589952"/>
          </a:xfrm>
          <a:prstGeom prst="rect">
            <a:avLst/>
          </a:prstGeom>
        </p:spPr>
      </p:pic>
      <p:sp>
        <p:nvSpPr>
          <p:cNvPr id="12" name="Rechthoek 11">
            <a:extLst>
              <a:ext uri="{FF2B5EF4-FFF2-40B4-BE49-F238E27FC236}">
                <a16:creationId xmlns:a16="http://schemas.microsoft.com/office/drawing/2014/main" id="{178A3F99-1033-E71F-A340-ECBD57C5D401}"/>
              </a:ext>
            </a:extLst>
          </p:cNvPr>
          <p:cNvSpPr/>
          <p:nvPr/>
        </p:nvSpPr>
        <p:spPr>
          <a:xfrm>
            <a:off x="10331603" y="1761661"/>
            <a:ext cx="401040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nl-NL" sz="2100" b="1" dirty="0">
                <a:solidFill>
                  <a:prstClr val="white"/>
                </a:solidFill>
                <a:latin typeface="Segoe UI"/>
              </a:rPr>
              <a:t>Remsey Mailjard</a:t>
            </a:r>
          </a:p>
          <a:p>
            <a:pPr defTabSz="685800">
              <a:defRPr/>
            </a:pPr>
            <a:r>
              <a:rPr lang="nl-NL" sz="1350" b="1">
                <a:solidFill>
                  <a:prstClr val="white"/>
                </a:solidFill>
                <a:latin typeface="Segoe UI"/>
              </a:rPr>
              <a:t>IT-trainer </a:t>
            </a:r>
            <a:r>
              <a:rPr lang="nl-NL" sz="1350" b="1" dirty="0">
                <a:solidFill>
                  <a:prstClr val="white"/>
                </a:solidFill>
                <a:latin typeface="Segoe UI"/>
              </a:rPr>
              <a:t>&amp; developer</a:t>
            </a:r>
          </a:p>
          <a:p>
            <a:pPr defTabSz="685800">
              <a:defRPr/>
            </a:pPr>
            <a:r>
              <a:rPr lang="nl-NL" sz="1350" b="1" dirty="0">
                <a:solidFill>
                  <a:prstClr val="white"/>
                </a:solidFill>
                <a:latin typeface="Segoe UI"/>
              </a:rPr>
              <a:t>www.remsey.nl</a:t>
            </a:r>
          </a:p>
          <a:p>
            <a:pPr defTabSz="685800">
              <a:defRPr/>
            </a:pPr>
            <a:endParaRPr lang="nl-NL" sz="1350" dirty="0">
              <a:solidFill>
                <a:prstClr val="white"/>
              </a:solidFill>
              <a:latin typeface="Segoe UI"/>
            </a:endParaRPr>
          </a:p>
          <a:p>
            <a:pPr defTabSz="685800">
              <a:defRPr/>
            </a:pPr>
            <a:r>
              <a:rPr lang="nl-NL" sz="1350" dirty="0">
                <a:solidFill>
                  <a:prstClr val="white"/>
                </a:solidFill>
                <a:latin typeface="Segoe UI"/>
              </a:rPr>
              <a:t>        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E7754944-CDC1-204A-ACC3-98577136634A}"/>
              </a:ext>
            </a:extLst>
          </p:cNvPr>
          <p:cNvSpPr/>
          <p:nvPr/>
        </p:nvSpPr>
        <p:spPr>
          <a:xfrm>
            <a:off x="436958" y="4352377"/>
            <a:ext cx="401040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nl-NL" sz="2100" b="1" dirty="0">
                <a:solidFill>
                  <a:prstClr val="white"/>
                </a:solidFill>
                <a:latin typeface="Segoe UI"/>
              </a:rPr>
              <a:t>Remsey Mailjard</a:t>
            </a:r>
          </a:p>
          <a:p>
            <a:pPr defTabSz="685800">
              <a:defRPr/>
            </a:pPr>
            <a:r>
              <a:rPr lang="nl-NL" sz="1350" b="1">
                <a:solidFill>
                  <a:prstClr val="white"/>
                </a:solidFill>
                <a:latin typeface="Segoe UI"/>
              </a:rPr>
              <a:t>IT-trainer </a:t>
            </a:r>
            <a:r>
              <a:rPr lang="nl-NL" sz="1350" b="1" dirty="0">
                <a:solidFill>
                  <a:prstClr val="white"/>
                </a:solidFill>
                <a:latin typeface="Segoe UI"/>
              </a:rPr>
              <a:t>&amp; developer</a:t>
            </a:r>
          </a:p>
          <a:p>
            <a:pPr defTabSz="685800">
              <a:defRPr/>
            </a:pPr>
            <a:r>
              <a:rPr lang="nl-NL" sz="1350" b="1" dirty="0">
                <a:solidFill>
                  <a:prstClr val="white"/>
                </a:solidFill>
                <a:latin typeface="Segoe UI"/>
              </a:rPr>
              <a:t>www.remsey.nl</a:t>
            </a:r>
          </a:p>
          <a:p>
            <a:pPr defTabSz="685800">
              <a:defRPr/>
            </a:pPr>
            <a:endParaRPr lang="nl-NL" sz="1350" dirty="0">
              <a:solidFill>
                <a:prstClr val="white"/>
              </a:solidFill>
              <a:latin typeface="Segoe UI"/>
            </a:endParaRPr>
          </a:p>
          <a:p>
            <a:pPr defTabSz="685800">
              <a:defRPr/>
            </a:pPr>
            <a:r>
              <a:rPr lang="nl-NL" sz="1350" dirty="0">
                <a:solidFill>
                  <a:prstClr val="white"/>
                </a:solidFill>
                <a:latin typeface="Segoe UI"/>
              </a:rPr>
              <a:t>        </a:t>
            </a: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9DCED64B-1C24-3DD6-18FD-21FD36404A7F}"/>
              </a:ext>
            </a:extLst>
          </p:cNvPr>
          <p:cNvSpPr/>
          <p:nvPr/>
        </p:nvSpPr>
        <p:spPr bwMode="auto">
          <a:xfrm>
            <a:off x="1" y="-20536"/>
            <a:ext cx="9141768" cy="853656"/>
          </a:xfrm>
          <a:prstGeom prst="rect">
            <a:avLst/>
          </a:prstGeom>
          <a:solidFill>
            <a:srgbClr val="0D083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Dynamics 365 CE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51441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7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D1D6E"/>
          </a:solidFill>
          <a:ln w="12700">
            <a:solidFill>
              <a:srgbClr val="2D1D6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7589520" y="274320"/>
            <a:ext cx="1097280" cy="1097280"/>
          </a:xfrm>
          <a:prstGeom prst="ellipse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46560" y="82296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365 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voor Vereniging Eigen Huis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E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Klantadviseurs  ·  Servicemedewerkers  ·  Casebehandelaars  ·  CRM-beheerders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E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Duur: 2 – 3 uur   |   7 modules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3205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vereniging eigen huis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Programmaoverzicht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923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Introductie Copilot in Dynamics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517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klachtafhandeling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112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E-mailafhandeling met Copilot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365760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7066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en communicatie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86868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4754880" y="86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85232" y="923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Marketingsegmentatie met Copilot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475488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85232" y="1517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Prompttechnieken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05740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475488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85232" y="2112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Eindcase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11B0E-2EB7-7553-FFCB-F2029DAF3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115930-0F5A-0A58-6905-E95B009C0A7A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363DFC-CDE2-FA76-D037-C4E6416ADC40}"/>
              </a:ext>
            </a:extLst>
          </p:cNvPr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F4AF9D-C756-929E-66DA-99B79ED08566}"/>
              </a:ext>
            </a:extLst>
          </p:cNvPr>
          <p:cNvSpPr/>
          <p:nvPr/>
        </p:nvSpPr>
        <p:spPr>
          <a:xfrm>
            <a:off x="365760" y="86868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9E8090-49D7-9A4C-AB31-3EDB68F95267}"/>
              </a:ext>
            </a:extLst>
          </p:cNvPr>
          <p:cNvSpPr/>
          <p:nvPr/>
        </p:nvSpPr>
        <p:spPr>
          <a:xfrm>
            <a:off x="365760" y="86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99D259-0E96-B3A8-16E0-51321C40029D}"/>
              </a:ext>
            </a:extLst>
          </p:cNvPr>
          <p:cNvSpPr/>
          <p:nvPr/>
        </p:nvSpPr>
        <p:spPr>
          <a:xfrm>
            <a:off x="896112" y="923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Introductie Copilot in Dynamics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EBC75B7-C612-6EF1-5255-29E3C1F80DF5}"/>
              </a:ext>
            </a:extLst>
          </p:cNvPr>
          <p:cNvSpPr/>
          <p:nvPr/>
        </p:nvSpPr>
        <p:spPr>
          <a:xfrm>
            <a:off x="365760" y="146304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02E54E-06E7-633B-B9FA-2A60A8932364}"/>
              </a:ext>
            </a:extLst>
          </p:cNvPr>
          <p:cNvSpPr/>
          <p:nvPr/>
        </p:nvSpPr>
        <p:spPr>
          <a:xfrm>
            <a:off x="36576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2DED4D-54E5-2827-6C07-EBB1F02E62E0}"/>
              </a:ext>
            </a:extLst>
          </p:cNvPr>
          <p:cNvSpPr/>
          <p:nvPr/>
        </p:nvSpPr>
        <p:spPr>
          <a:xfrm>
            <a:off x="896112" y="1517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klachtafhandeling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B86F020-45F4-A835-9D03-E6F8EF4147B6}"/>
              </a:ext>
            </a:extLst>
          </p:cNvPr>
          <p:cNvSpPr/>
          <p:nvPr/>
        </p:nvSpPr>
        <p:spPr>
          <a:xfrm>
            <a:off x="365760" y="205740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C56E362-7207-8AC4-1B04-218B1C11A7D1}"/>
              </a:ext>
            </a:extLst>
          </p:cNvPr>
          <p:cNvSpPr/>
          <p:nvPr/>
        </p:nvSpPr>
        <p:spPr>
          <a:xfrm>
            <a:off x="36576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9AA23A8-01B7-E4B4-8FC1-53252E21AAA0}"/>
              </a:ext>
            </a:extLst>
          </p:cNvPr>
          <p:cNvSpPr/>
          <p:nvPr/>
        </p:nvSpPr>
        <p:spPr>
          <a:xfrm>
            <a:off x="896112" y="2112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E-mailafhandeling met Copilot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5509F7B-E112-0209-5004-A6B128FC1109}"/>
              </a:ext>
            </a:extLst>
          </p:cNvPr>
          <p:cNvSpPr/>
          <p:nvPr/>
        </p:nvSpPr>
        <p:spPr>
          <a:xfrm>
            <a:off x="365760" y="265176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D5E039-96ED-11FA-B13C-7E0DADF62194}"/>
              </a:ext>
            </a:extLst>
          </p:cNvPr>
          <p:cNvSpPr/>
          <p:nvPr/>
        </p:nvSpPr>
        <p:spPr>
          <a:xfrm>
            <a:off x="365760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225FFDE-FBF9-522F-42E4-FF7AE4D35C30}"/>
              </a:ext>
            </a:extLst>
          </p:cNvPr>
          <p:cNvSpPr/>
          <p:nvPr/>
        </p:nvSpPr>
        <p:spPr>
          <a:xfrm>
            <a:off x="896112" y="27066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en communicatie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221E0DC-6950-0410-27C1-7898ECA45A4C}"/>
              </a:ext>
            </a:extLst>
          </p:cNvPr>
          <p:cNvSpPr/>
          <p:nvPr/>
        </p:nvSpPr>
        <p:spPr>
          <a:xfrm>
            <a:off x="4754880" y="86868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A2004D6-DB15-1404-5454-4656EEBABB13}"/>
              </a:ext>
            </a:extLst>
          </p:cNvPr>
          <p:cNvSpPr/>
          <p:nvPr/>
        </p:nvSpPr>
        <p:spPr>
          <a:xfrm>
            <a:off x="4754880" y="86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3D99FFB-DA9D-FDA0-A481-5864799B250C}"/>
              </a:ext>
            </a:extLst>
          </p:cNvPr>
          <p:cNvSpPr/>
          <p:nvPr/>
        </p:nvSpPr>
        <p:spPr>
          <a:xfrm>
            <a:off x="5285232" y="923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Marketingsegmentatie met Copilot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A6C64DA-88DA-263C-239F-D84F427CDC9A}"/>
              </a:ext>
            </a:extLst>
          </p:cNvPr>
          <p:cNvSpPr/>
          <p:nvPr/>
        </p:nvSpPr>
        <p:spPr>
          <a:xfrm>
            <a:off x="4754880" y="146304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632A00B-93ED-66FB-7C96-1080FCA26AC5}"/>
              </a:ext>
            </a:extLst>
          </p:cNvPr>
          <p:cNvSpPr/>
          <p:nvPr/>
        </p:nvSpPr>
        <p:spPr>
          <a:xfrm>
            <a:off x="475488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7A3F2FC-29B7-979C-6125-A7A6A6FDCF1B}"/>
              </a:ext>
            </a:extLst>
          </p:cNvPr>
          <p:cNvSpPr/>
          <p:nvPr/>
        </p:nvSpPr>
        <p:spPr>
          <a:xfrm>
            <a:off x="5285232" y="1517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Prompttechnieken</a:t>
            </a:r>
            <a:endParaRPr lang="en-US" sz="13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2A36F23-02C3-7917-11DA-6EF0BFDEA391}"/>
              </a:ext>
            </a:extLst>
          </p:cNvPr>
          <p:cNvSpPr/>
          <p:nvPr/>
        </p:nvSpPr>
        <p:spPr>
          <a:xfrm>
            <a:off x="4754880" y="2057400"/>
            <a:ext cx="438912" cy="4389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08EBDFF-F856-B92D-7F9F-83450F78347D}"/>
              </a:ext>
            </a:extLst>
          </p:cNvPr>
          <p:cNvSpPr/>
          <p:nvPr/>
        </p:nvSpPr>
        <p:spPr>
          <a:xfrm>
            <a:off x="475488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482704C-A4F9-AEAF-6FA2-7FE96807AE7E}"/>
              </a:ext>
            </a:extLst>
          </p:cNvPr>
          <p:cNvSpPr/>
          <p:nvPr/>
        </p:nvSpPr>
        <p:spPr>
          <a:xfrm>
            <a:off x="5285232" y="2112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Eindcase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8867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5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FABA44-6E43-828D-B06B-75EF5714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366459-F580-533C-618B-C96C85FF0793}"/>
              </a:ext>
            </a:extLst>
          </p:cNvPr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E467470-D77B-5333-8D8C-C29129C5692C}"/>
              </a:ext>
            </a:extLst>
          </p:cNvPr>
          <p:cNvSpPr/>
          <p:nvPr/>
        </p:nvSpPr>
        <p:spPr>
          <a:xfrm>
            <a:off x="0" y="5052060"/>
            <a:ext cx="374904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9D7F3F-0C14-85A7-27B9-353102570834}"/>
              </a:ext>
            </a:extLst>
          </p:cNvPr>
          <p:cNvSpPr/>
          <p:nvPr/>
        </p:nvSpPr>
        <p:spPr>
          <a:xfrm>
            <a:off x="228600" y="2743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CE26707-647D-EB4F-C809-93248D5C3BE2}"/>
              </a:ext>
            </a:extLst>
          </p:cNvPr>
          <p:cNvSpPr/>
          <p:nvPr/>
        </p:nvSpPr>
        <p:spPr>
          <a:xfrm>
            <a:off x="228600" y="20116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Cursusmateriaal	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9A11ADB-8979-BAFE-FBD3-E937CFCB10FF}"/>
              </a:ext>
            </a:extLst>
          </p:cNvPr>
          <p:cNvSpPr/>
          <p:nvPr/>
        </p:nvSpPr>
        <p:spPr>
          <a:xfrm>
            <a:off x="3749040" y="0"/>
            <a:ext cx="54864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F726692-4345-7C7B-FF83-860803F0FF6A}"/>
              </a:ext>
            </a:extLst>
          </p:cNvPr>
          <p:cNvSpPr/>
          <p:nvPr/>
        </p:nvSpPr>
        <p:spPr>
          <a:xfrm>
            <a:off x="4114800" y="109728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61404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374904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28600" y="20116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Introductie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749040" y="0"/>
            <a:ext cx="54864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AI-ondersteuning voor je dagelijkse CRM-werk.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dit onderdeel leer je: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 Copilot is en hoe het werkt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Verschil met andere AI-tools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 Copilot kan doen in Dynamics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Copilot?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een AI-assistent, ingebouwd in Microsoft-producten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begrijpt tekst en context uit jouw CRM-data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kan informatie samenvatten, antwoorden genereren en patronen herkennen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Binnen Dynamics 365 werkt Copilot direct met klantdata uit het CRM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Medewerkers houden altijd de controle — Copilot ondersteunt, beslist niet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vs. andere AI-tools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503920" cy="21945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7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Gebruik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7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Werkt met CRM?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7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4E"/>
                          </a:solidFill>
                        </a:rPr>
                        <a:t>ChatGPT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4E"/>
                          </a:solidFill>
                        </a:rPr>
                        <a:t>Algemene AI-chatbot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4E"/>
                          </a:solidFill>
                        </a:rPr>
                        <a:t>Nee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4E"/>
                          </a:solidFill>
                        </a:rPr>
                        <a:t>Microsoft 365 Copilot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4E"/>
                          </a:solidFill>
                        </a:rPr>
                        <a:t>Word, Outlook, Teams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4E"/>
                          </a:solidFill>
                        </a:rPr>
                        <a:t>Beperkt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785"/>
                          </a:solidFill>
                        </a:rPr>
                        <a:t>Dynamics 365 Copilot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785"/>
                          </a:solidFill>
                        </a:rPr>
                        <a:t>CRM — klanten, cases, e-mail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6E38"/>
                          </a:solidFill>
                        </a:rPr>
                        <a:t>Ja — direct vanuit het CRM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4E"/>
          </a:solidFill>
          <a:ln w="12700">
            <a:solidFill>
              <a:srgbClr val="1A1A4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Copilot in actie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91440"/>
            <a:ext cx="1463040" cy="41148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7406640" y="91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DEMO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868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een bestaande case in Dynamics 365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2356" y="1325880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581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op het Copilot-icoon (rechts in het scherm)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" y="2039112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365760" y="2249424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365760" y="2249424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229514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'Samenvatten' — bekijk wat Copilot genereert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2356" y="2752344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365760" y="2962656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30083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'Antwoord voorstellen' — lees het concept door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2356" y="3465576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365760" y="3675888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365760" y="3675888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37216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het concept aan en stuur het bericht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374904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28600" y="20116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klacht-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afhandeling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749040" y="0"/>
            <a:ext cx="54864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 overzicht bij complexe cases.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van leden, klachten over aannemers, advies over woningproblemen — Copilot helpt je de kern snel te vinden.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Klachtafhandeling met Copilot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 cases bevatten lange beschrijvingen, meerdere e-mails en eerdere contactmomenten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levert in seconden een overzicht van wat er speelt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Mogelijke vervolgstappen worden automatisch voorgesteld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 beoordeelt, past aan en beslist — Copilot levert het ruwe materiaal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Tijdsbesparing: minder lezen, sneller de kern begrijpen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4E"/>
          </a:solidFill>
          <a:ln w="12700">
            <a:solidFill>
              <a:srgbClr val="1A1A4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Case samenvatten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91440"/>
            <a:ext cx="1463040" cy="41148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7406640" y="91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DEMO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868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een klachtcase van een lid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2356" y="1325880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581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op Copilot → 'Samenvatten'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" y="2039112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365760" y="2249424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365760" y="2249424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229514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Bekijk de samenvatting: klopt dit met jouw verwachting?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2356" y="2752344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365760" y="2962656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30083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op 'Vervolgstappen voorstellen'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2356" y="3465576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365760" y="3675888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365760" y="3675888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37216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Beoordeel de suggesties en noteer eventuele aanpassingen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Praktijkopdracht — Module 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lid meldt dat een aannemer slecht werk heeft geleverd en niet meer reageert. Het gaat om gevelbekleding die loslaat na isolatiewerkzaamheden.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822960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opdracht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321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 case in Dynamics 365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Copilot de klacht samenvatten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Copilot mogelijke vervolgstappen voorstellen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Bespreek met een collega: wat klopt wel/niet in de samenvatting?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374904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28600" y="20116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E-mail-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afhandeling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Copilot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749040" y="0"/>
            <a:ext cx="54864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Sneller en consistenter communiceren.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analyseert inkomende e-mails, stelt antwoorden voor en past de toon aan — jij stuurt altijd zelf.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E-mailafhandeling met Copilot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Medewerkers besteden veel tijd aan e-mails lezen en beantwoorden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vat de inhoud van een e-mail in één of twee zinnen samen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conceptantwoord wordt automatisch opgesteld op basis van de context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toon is aanpasbaar: formeel, begripvol, kort &amp; krachtig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Herschrijf-optie: eenvoudiger, uitgebreider of in andere stijl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4E"/>
          </a:solidFill>
          <a:ln w="12700">
            <a:solidFill>
              <a:srgbClr val="1A1A4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E-mail beantwoorden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91440"/>
            <a:ext cx="1463040" cy="41148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7406640" y="91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DEMO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868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een inkomende e-mail over isolatiesubsidie in Dynamics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2356" y="1325880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581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op Copilot → 'E-mail samenvatten'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" y="2039112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365760" y="2249424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365760" y="2249424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229514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op 'Antwoord genereren'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2356" y="2752344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365760" y="2962656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30083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toon aan: 'Begripvol en professioneel'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2356" y="3465576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365760" y="3675888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365760" y="3675888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37216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Herschrijf het antwoord eenvoudiger voor het lid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Praktijkopdracht — Module 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wil mijn woning isoleren en ik hoor dat er subsidies zijn. Kunt u mij vertellen wat ik kan aanvragen en hoe dat werkt?"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822960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opdracht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321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Copilot de vraag samenvatten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Copilot een antwoord schrijven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toon aan: eenvoudiger en vriendelijker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Vergelijk jouw handmatige versie met de Copilot-versie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374904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28600" y="20116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commu-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nicatie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749040" y="0"/>
            <a:ext cx="54864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genereren met AI.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helpt bij nieuwsbrieven, adviesberichten en marketingteksten — consistent én snel.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met Copilot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 communiceert met leden over advies, diensten en actualiteiten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genereert onderwerpen voor een nieuwsbrief op basis van een thema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Marketingteksten: Copilot maakt een eerste versie, jij verfijnt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aanpasbaar aan doelgroep: huiseigenaar vs. VvE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Ideeën genereren voor campagnes, berichten of sociale media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4E"/>
          </a:solidFill>
          <a:ln w="12700">
            <a:solidFill>
              <a:srgbClr val="1A1A4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Nieuwsbrief content genereren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91440"/>
            <a:ext cx="1463040" cy="41148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7406640" y="91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DEMO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868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Copilot in de marketingmodule van Dynamics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2356" y="1325880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581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als invoer: thema 'energiebesparing woningen'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" y="2039112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365760" y="2249424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365760" y="2249424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229514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Copilot 5 nieuwsbriefonderwerpen genereren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2356" y="2752344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365760" y="2962656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30083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een onderwerp en laat een korte tekst uitwerken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2356" y="3465576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365760" y="3675888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365760" y="3675888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37216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tekst aan op VEH-huisstijl en toon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Praktijkopdracht — Module 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een korte nieuwsbrief van maximaal 150 woorden over energiebesparing in woningen voor VEH-leden.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822960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opdracht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321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Copilot het thema: energiebesparing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Copilot een nieuwsbriefartikel schrijven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toon aan: vriendelijk, informatief, actiegericht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een concrete tip of call-to-action toe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374904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28600" y="20116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Marketing-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segmentatie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Copilot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749040" y="0"/>
            <a:ext cx="54864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juiste boodschap voor de juiste doelgroep.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herkent patronen in CRM-data en helpt je slimme segmenten te bouwen voor gerichte communicatie.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Segmentatie met Copilot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CRM-systemen bevatten veel data over gedrag, interesses en contacthistorie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herkent patronen: wie opent welke berichten? Wie stelde welke vragen?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Segmenten aanmaken op basis van gedragskenmerken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Bijv: leden die de nieuwsbrief openen, of leden met isolatievragen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Betere targeting = hogere relevantie = tevreden leden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4E"/>
          </a:solidFill>
          <a:ln w="12700">
            <a:solidFill>
              <a:srgbClr val="1A1A4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Segment aanmaken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91440"/>
            <a:ext cx="1463040" cy="41148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7406640" y="91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DEMO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868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Dynamics → Marketing → Segmenten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2356" y="1325880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581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op 'Nieuw segment met Copilot'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" y="2039112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365760" y="2249424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365760" y="2249424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229514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Beschrijf het gewenste segment in gewone taal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2356" y="2752344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365760" y="2962656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30083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genereert het segment op basis van beschikbare data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2356" y="3465576"/>
            <a:ext cx="45720" cy="21031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365760" y="3675888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365760" y="3675888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37216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het segment en activeer het voor een campagne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Praktijkopdracht — Module 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een segment van leden die in de afgelopen 6 maanden interesse hebben getoond in energiebesparing (via e-mail, cases of website-gedrag).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822960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opdracht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321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Beschrijf het segment aan Copilot in gewone taal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Copilot het segment opbouwen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of de criteria logisch zijn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Bedenk welke campagne je op dit segment zou richten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374904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28600" y="20116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technieken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749040" y="0"/>
            <a:ext cx="54864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Betere vragen = betere antwoorden.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kwaliteit van AI-output hangt sterk af van hoe je de vraag stelt. Leer de structuur van een effectieve prompt.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van een goede prompt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wie ben je en wat is de situatie? (bijv. 'Je bent adviseur bij VEH')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Taak: wat moet Copilot doen? Wees concreet en specifiek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Structuur: hoe moet het antwoord eruitzien? (opsomming, alinea's, max. woorden)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Toon: professioneel, begripvol, eenvoudig, formeel?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Itereren: verfijn de prompt als het resultaat niet goed genoeg is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Promptvergelijking: zwak vs. sterk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749040" cy="384048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Zwakke prompt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777240"/>
            <a:ext cx="4114800" cy="384048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66344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Sterke prompt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een antwoord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(Geen context gegeven)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(Geen toon bepaald)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(Geen structuur gevraagd)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Resultaat: generiek en onpersoonlijk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261872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bent adviseur bij Vereniging Eigen Huis.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een professioneel antwoord op deze klacht: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Toon begrip voor de situatie van het lid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Geef een korte uitleg van de volgende stappen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Sluit positief af (max. 150 woorden)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Praktijkopdracht — Module 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Hieronder staan drie zwakke prompts. Verbeter ze tot sterke prompts met context, taak en structuur.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822960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opdracht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321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1: 'Maak een samenvatting' → verbeter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2: 'Schrijf een mail' → verbeter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3: 'Wat moet ik doen?' → verbeter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Wissel uit met een collega: welke prompt levert het beste resultaat?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374904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28600" y="20116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Eindcase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749040" y="0"/>
            <a:ext cx="54864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samen in één realistische werksituatie.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doorloopt het volledige proces: case analyseren, antwoord opstellen, toon aanpassen — met Copilot als jouw assistent.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Eindcase: isolatieconflict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Een lid meldt een conflict met zijn aannemer over isolatiewerkzaamheden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aannemer werkt niet naar behoren en reageert nauwelijks meer op berichten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lid vraagt om advies over zijn rechten en mogelijke vervolgstappen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taak: analyseren, samenvatten, advies geven en professioneel communiceren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Copilot bij élke stap — maar beoordeel en pas aan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Stappenplan eindcase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868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Klacht samenvatten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06240" y="896112"/>
            <a:ext cx="4663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Copilot: kern van het probleem in 3 zinnen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2356" y="1325880"/>
            <a:ext cx="45720" cy="4572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828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 analyseren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1856232"/>
            <a:ext cx="4663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Aandachtspunten en rechten van het lid benoemen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2356" y="2286000"/>
            <a:ext cx="45720" cy="4572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Antwoordmail genereren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06240" y="2816352"/>
            <a:ext cx="4663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Professioneel antwoord via Copilot opstellen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2356" y="3246120"/>
            <a:ext cx="45720" cy="4572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438912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365760" y="370332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749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aanpassen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06240" y="3776472"/>
            <a:ext cx="4663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Herschrijven: begripvol, helder en actiegericht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B27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D1D6E"/>
          </a:solidFill>
          <a:ln w="12700">
            <a:solidFill>
              <a:srgbClr val="2D1D6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7589520" y="274320"/>
            <a:ext cx="1097280" cy="1097280"/>
          </a:xfrm>
          <a:prstGeom prst="ellipse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Klaar!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Belangrijke aandachtspunten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een hulpmiddel — jij blijft verantwoordelijk voor het eindresultaat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altijd informatie die Copilot genereert op juistheid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toon en inhoud altijd aan op jouw specifieke situatie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AI verantwoord: let op privacy en zorgvuldigheid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5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een hulpmiddel — jij blijft verantwoordelijk voor het eindresultaat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5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altijd informatie die Copilot genereert op juistheid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5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toon en inhoud altijd aan op jouw specifieke situatie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5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AI verantwoord: let op privacy en zorgvuldigheid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1534</Words>
  <Application>Microsoft Office PowerPoint</Application>
  <PresentationFormat>Diavoorstelling (16:9)</PresentationFormat>
  <Paragraphs>321</Paragraphs>
  <Slides>34</Slides>
  <Notes>32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34</vt:i4>
      </vt:variant>
    </vt:vector>
  </HeadingPairs>
  <TitlesOfParts>
    <vt:vector size="38" baseType="lpstr">
      <vt:lpstr>Arial</vt:lpstr>
      <vt:lpstr>Calibri</vt:lpstr>
      <vt:lpstr>Segoe UI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in Dynamics 365 CE</dc:title>
  <dc:subject>PptxGenJS Presentation</dc:subject>
  <dc:creator>Vereniging Eigen Huis</dc:creator>
  <cp:lastModifiedBy>Remsey Mailjard</cp:lastModifiedBy>
  <cp:revision>4</cp:revision>
  <dcterms:created xsi:type="dcterms:W3CDTF">2026-03-15T20:35:24Z</dcterms:created>
  <dcterms:modified xsi:type="dcterms:W3CDTF">2026-03-15T21:31:18Z</dcterms:modified>
</cp:coreProperties>
</file>